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สวัสดีผู้เข้าอบรมทุกท่านครับ วันนี้เราจะมาเรียนรู้การใช้งานระบบ 'BAAC Prompt Hub' ซึ่งเป็นเครื่องมือช่วยงานและคลังแม่แบบคำสั่ง AI สำหรับพนักงานสำนักธุรกรรมการเงิน ธ.ก.ส. ทั้ง 11 กลุ่มงาน โดยสามารถเปิดใช้งานได้ทันทีผ่านลิงก์ https://cheeptham333.github.io/baac-prompt-hub/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จุดเด่นสำคัญที่สุดที่วิทยากรควรเน้นย้ำคือ สถาปัตยกรรม Zero-API ซึ่งหมายความว่าผู้เรียนไม่ต้องเสียเวลาเซ็ตอัป API Key และปลอดภัยต่อข้อมูลของธนาคาร 100% นอกจากนี้ยังมีปุ่ม Instant Preview ที่ช่วยให้ผู้เรียนเห็นตัวอย่างคำตอบก่อนยิง Prompt 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สำหรับวิทยากร เมื่อเริ่มต้นคลาส ให้คลิกปุ่ม 'QR Code ห้องเรียน' ที่มุมขวาบน แล้วกดปุ่ม 'ขยายเต็มจอ' ผู้เข้าอบรมในห้องสามารถยกกล้องมือถือขึ้นมาสแกน QR Code แล้วเข้าใช้งานพร้อมกันได้ทันที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หน้าจอได้รับการออกแบบให้เรียบง่าย (Clean &amp; Intuitive) แบ่งออกเป็น 4 ส่วนหลัก ผู้ใช้งานจะคุ้นเคยได้ภายในเวลาไม่เกิน 2 นาที ไม่ต้องเรียนรู้เครื่องมือซับซ้อน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ให้ผู้เรียนลองแตะเลือกชิปรหัสกลุ่มงานของตนเอง หรือลองพิมพ์คำว่า 'ATM' หรือ 'SPIN' ลงในช่องค้นหา ระบบจะแสดงการ์ดแม่แบบที่ตรงเงื่อนไขขึ้นมาทันทีแบบ Real-time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Dropdown ตัวกรองหมวดหมู่งานช่วยให้พนักงานเลือกเฉพาะเนื้องานที่ตนเองกำลังทำอยู่ในขณะนั้น เช่น หากต้องการเขียนบันทึกข้อความ ให้เลือก 'ร่างเอกสาร &amp; หนังสือราชการ/สื่อสาร' ทันที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อธิบายให้ผู้เรียนเข้าใจว่า Prompt ที่มีประสิทธิภาพสูงในระดับองค์กรจะต้องมีครบทั้ง 3 ส่วน: Role, Task, และ Format ซึ่งแม่แบบใน BAAC Prompt Hub ได้เขียนโครงสร้างเหล่านี้ไว้ให้เรียบร้อยแล้ว ผู้เรียนเพียงแค่ใส่ข้อมูลตัวแปรของตนเองเท่านั้น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สาธิตให้ผู้เรียนดูว่า เมื่อเปลี่ยนค่าในช่อง Input ตัวหนังสือในการ์ดจะเปลี่ยนตามทันทีโดยไม่ต้องกดบันทึก และหากเปลี่ยนผิด ให้กดปุ่ม 'รีเซ็ตค่าเดิม' ข้อมูลจะกลับมาเป็นตัวอย่างเริ่มต้น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ให้ผู้เรียนลองคลิกสลับแท็บ 'ตัวอย่างคำตอบ AI' เพื่อดูตัวอย่างรายงานจริง ผู้เรียนหลายคนจะไม่แน่ใจว่ายิง Prompt ไปแล้วจะได้อะไร ฟังก์ชันนี้จึงช่วยลดความกังวลและสร้างความมั่นใจได้ดีมาก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ให้ผู้เรียนทดลองกดปุ่มคัดลอกบนมือถือของตนเอง และสังเกตการสั่นเตือนและป้ายสีเขียว จากนั้นให้สลับหน้าจอไปที่แอปหรือเบราว์เซอร์เพื่อลอง Paste ข้อความดู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กรณีนี้แสดงให้เห็นว่า Prompt ตัวเดียว สามารถสร้างทั้งเอกสารประสานงานทางเทคนิคระดับ B2B และสคริปต์สื่อสารกับลูกค้า B2C ที่สุภาพและถูกระเบียบ ธปท. ได้พร้อมกันในคราวเดียว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งานกระทบยอดและตรวจพิสูจน์ ATM เป็นงานที่ต้องอาศัยความละเอียดสูงมาก การใช้ Prompt ที่วาง Format ตารางเปรียบเทียบไว้ชัดเจน จะช่วยลดข้อผิดพลาดในการคำนวณและทำบันทึกข้อความได้รวดเร็วขึ้นหลายเท่า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ย้ำเตือนผู้เรียนอย่างจริงจังในเรื่อง PDPA และนโยบายความลับของธนาคาร แม้ระบบ Prompt Hub จะเป็น Zero-API แต่เมื่อนำ Prompt ไปใช้บน Google Gemini หรือเครื่องมือ AI ภายนอก จะต้องทำ Data Masking ข้อมูลลูกค้าและเลขบัญชีทุกครั้ง ห้ามใส่ข้อมูลจริงเด็ดขาด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สรุปให้เห็นว่าสำนักธุรกรรมการเงิน ธ.ก.ส. มีแม่แบบที่ออกแบบมาเฉพาะเจาะจงสำหรับทุกกลุ่มงาน พนักงานทุกท่านไม่ว่าจะอยู่ฝ่ายไหน สามารถเข้ามาเลือกใช้และปรับตัวแปรตามงานของตนเองได้ทันที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สรุปหลักการ 4 จังหวะ: 'เลือก - ปรับ - ส่อง - คัดลอก' ให้ผู้เรียนจำได้ง่าย เปิดโอกาสให้ผู้เข้าอบรมซักถามข้อสงสัย และเชิญชวนให้นำไปใช้จริงในการทำงานประจำวัน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097280" cy="91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  <a:latin typeface="Prompt"/>
              </a:defRPr>
            </a:pPr>
            <a:r>
              <a:t>🌾 ธนาคารเพื่อการเกษตรและสหกรณ์การเกษตร (ธ.ก.ส.)</a:t>
            </a:r>
          </a:p>
          <a:p>
            <a:pPr>
              <a:defRPr sz="3600" b="1">
                <a:solidFill>
                  <a:srgbClr val="FFFFFF"/>
                </a:solidFill>
                <a:latin typeface="Prompt"/>
              </a:defRPr>
            </a:pPr>
            <a:r>
              <a:t>หลักสูตรปฏิบัติการระบบคลังแม่แบบ</a:t>
            </a:r>
            <a:br/>
            <a:r>
              <a:t>Prompt Engineering &amp; Gemini Hub</a:t>
            </a:r>
          </a:p>
          <a:p>
            <a:pPr>
              <a:defRPr sz="1600">
                <a:solidFill>
                  <a:srgbClr val="A7F3D0"/>
                </a:solidFill>
                <a:latin typeface="Sarabun"/>
              </a:defRPr>
            </a:pPr>
            <a:r>
              <a:t>คู่มือฝึกอบรมการใช้งานระบบทีละขั้นตอน (Step-by-Step) เพื่อเพิ่มประสิทธิภาพ 11 กลุ่มงาน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6858000" cy="822960"/>
          </a:xfrm>
          <a:prstGeom prst="roundRect">
            <a:avLst/>
          </a:prstGeom>
          <a:solidFill>
            <a:srgbClr val="006838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Prompt"/>
              </a:defRPr>
            </a:pPr>
            <a:r>
              <a:t>🌐 เว็บไซต์ระบบ: https://cheeptham333.github.io/baac-prompt-hub/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BAAC PROMPT HUB • สำนักธุรกรรมการเงิน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วัตถุประสงค์และจุดเด่นของระบบ (Key Highlights)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6838"/>
                </a:solidFill>
                <a:latin typeface="Prompt"/>
              </a:defRPr>
            </a:pPr>
            <a:r>
              <a:t>🛡️ Zero-API 100% ปลอดภัยสูงสุด</a:t>
            </a:r>
          </a:p>
          <a:p>
            <a:pPr>
              <a:defRPr sz="1300">
                <a:solidFill>
                  <a:srgbClr val="1E293B"/>
                </a:solidFill>
                <a:latin typeface="Sarabun"/>
              </a:defRPr>
            </a:pPr>
            <a:r>
              <a:t>ไม่ต้องขอ ไม่ต้องกรอก API Key ใดๆ ทั้งสิ้น</a:t>
            </a:r>
            <a:br/>
            <a:r>
              <a:t>ประมวลผลบนเบราว์เซอร์เครื่องของท่าน ข้อมูลไม่รั่วไหล สอดคล้องตามเกณฑ์ PDPA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6838"/>
                </a:solidFill>
                <a:latin typeface="Prompt"/>
              </a:defRPr>
            </a:pPr>
            <a:r>
              <a:t>🏛️ แม่แบบตรงภารกิจครบ 11 กลุ่มงาน</a:t>
            </a:r>
          </a:p>
          <a:p>
            <a:pPr>
              <a:defRPr sz="1300">
                <a:solidFill>
                  <a:srgbClr val="1E293B"/>
                </a:solidFill>
                <a:latin typeface="Sarabun"/>
              </a:defRPr>
            </a:pPr>
            <a:r>
              <a:t>รวบรวม Prompt จากงานจริงของสำนักธุรกรรมการเงิน เช่น งาน SPIN, เช็ค ICAS, กระทบยอด ATM/CDM และงานเอกสารราชการ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6838"/>
                </a:solidFill>
                <a:latin typeface="Prompt"/>
              </a:defRPr>
            </a:pPr>
            <a:r>
              <a:t>👁️ Instant AI Output Preview</a:t>
            </a:r>
          </a:p>
          <a:p>
            <a:pPr>
              <a:defRPr sz="1300">
                <a:solidFill>
                  <a:srgbClr val="1E293B"/>
                </a:solidFill>
                <a:latin typeface="Sarabun"/>
              </a:defRPr>
            </a:pPr>
            <a:r>
              <a:t>ดูตัวอย่างผลลัพธ์คำตอบจริงของโมเดล AI ได้ทันทีในคลิกเดียว ช่วยให้เห็นภาพการตอบก่อนนำ Prompt ไปใช้งานจริง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6838"/>
                </a:solidFill>
                <a:latin typeface="Prompt"/>
              </a:defRPr>
            </a:pPr>
            <a:r>
              <a:t>⚡ 1-Tap Copy &amp; Mobile-First</a:t>
            </a:r>
          </a:p>
          <a:p>
            <a:pPr>
              <a:defRPr sz="1300">
                <a:solidFill>
                  <a:srgbClr val="1E293B"/>
                </a:solidFill>
                <a:latin typeface="Sarabun"/>
              </a:defRPr>
            </a:pPr>
            <a:r>
              <a:t>ปุ่มคัดลอกขนาดใหญ่ 48px แตะครั้งเดียวพร้อมใช้งานบนสมาร์ตโฟน มีระบบสั่นเตือนและ Toast ยืนยันการคัดลอกแม่นยำ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BAAC PROMPT HUB • สำนักธุรกรรมการเงิน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การเข้าใช้งาน และระบบ Classroom QR Code (สำหรับ 150 คน)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838"/>
                </a:solidFill>
                <a:latin typeface="Prompt"/>
              </a:defRPr>
            </a:pPr>
            <a:r>
              <a:t>🌐 1. เข้าผ่าน Web Browser</a:t>
            </a:r>
          </a:p>
          <a:p>
            <a:pPr>
              <a:defRPr sz="1400">
                <a:solidFill>
                  <a:srgbClr val="1E293B"/>
                </a:solidFill>
                <a:latin typeface="Sarabun"/>
              </a:defRPr>
            </a:pPr>
            <a:r>
              <a:t>• รองรับทุกอุปกรณ์: คอมพิวเตอร์, iPad/แท็บเล็ต, และสมาร์ตโฟน</a:t>
            </a:r>
            <a:br/>
            <a:r>
              <a:t>• URL ทางการ: https://cheeptham333.github.io/baac-prompt-hub/</a:t>
            </a:r>
            <a:br/>
            <a:r>
              <a:t>• ไม่ต้องติดตั้งโปรแกรมหรือ Extension เพิ่มเติมใดๆ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4E2B"/>
                </a:solidFill>
                <a:latin typeface="Prompt"/>
              </a:defRPr>
            </a:pPr>
            <a:r>
              <a:t>📲 2. ฟังก์ชัน Classroom QR Code</a:t>
            </a:r>
          </a:p>
          <a:p>
            <a:pPr>
              <a:defRPr sz="1400">
                <a:solidFill>
                  <a:srgbClr val="1E293B"/>
                </a:solidFill>
                <a:latin typeface="Sarabun"/>
              </a:defRPr>
            </a:pPr>
            <a:r>
              <a:t>• ปุ่ม 'QR Code ห้องเรียน' ที่มุมขวาบนหน้าเว็บ</a:t>
            </a:r>
            <a:br/>
            <a:r>
              <a:t>• ปุ่มขยายเต็มจอฉาย (Enlarge for Projector):</a:t>
            </a:r>
            <a:br/>
            <a:r>
              <a:t>   ขยาย QR Code เต็มจอ ผู้เรียนแถวหลัง 15-20 เมตร สแกนติดทันที</a:t>
            </a:r>
            <a:br/>
            <a:r>
              <a:t>• โหมดขาว-ดำ คมชัดสูง (High-Contrast Mode):</a:t>
            </a:r>
            <a:br/>
            <a:r>
              <a:t>   ตัดแสงสะท้อนจากไฟเพดานห้องสัมมนา เพิ่มความคมชัดสูงสุด</a:t>
            </a:r>
            <a:br/>
            <a:r>
              <a:t>• สแกนปุ๊บ เปิดใช้งานได้พร้อมกันทั้ง 150 คนทันที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BAAC PROMPT HUB • สำนักธุรกรรมการเงิน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ภาพรวมโครงสร้างหน้าจอหลัก (UI Components Overview)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6838"/>
                </a:solidFill>
                <a:latin typeface="Prompt"/>
              </a:defRPr>
            </a:pPr>
            <a:r>
              <a:t>1. ส่วนหัวและแถบเครื่องมือ (Header &amp; Badges)</a:t>
            </a:r>
          </a:p>
          <a:p>
            <a:pPr>
              <a:defRPr sz="1300">
                <a:solidFill>
                  <a:srgbClr val="1E293B"/>
                </a:solidFill>
                <a:latin typeface="Sarabun"/>
              </a:defRPr>
            </a:pPr>
            <a:r>
              <a:t>แสดงโลโก้ ธ.ก.ส., ป้ายสถานะ 11 กลุ่มงาน, ปุ่ม QR Code, ปุ่มคู่มือ และปุ่มดาวน์โหลดสมุดงาน Colab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6838"/>
                </a:solidFill>
                <a:latin typeface="Prompt"/>
              </a:defRPr>
            </a:pPr>
            <a:r>
              <a:t>2. แถบค้นหาและตัวกรองหมวดหมู่ (Search &amp; Category)</a:t>
            </a:r>
          </a:p>
          <a:p>
            <a:pPr>
              <a:defRPr sz="1300">
                <a:solidFill>
                  <a:srgbClr val="1E293B"/>
                </a:solidFill>
                <a:latin typeface="Sarabun"/>
              </a:defRPr>
            </a:pPr>
            <a:r>
              <a:t>ช่อง Smart Search ค้นหาได้ทั้งรหัสและคำศัพท์งาน พร้อม Dropdown เลือกประเภทงาน 5 หมวดหมู่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6838"/>
                </a:solidFill>
                <a:latin typeface="Prompt"/>
              </a:defRPr>
            </a:pPr>
            <a:r>
              <a:t>3. ชิปเลือกกลุ่มงาน (Department Pills 01 - 11)</a:t>
            </a:r>
          </a:p>
          <a:p>
            <a:pPr>
              <a:defRPr sz="1300">
                <a:solidFill>
                  <a:srgbClr val="1E293B"/>
                </a:solidFill>
                <a:latin typeface="Sarabun"/>
              </a:defRPr>
            </a:pPr>
            <a:r>
              <a:t>แถบชิปเลื่อนแนวนอน แตะเพื่อกรองเฉพาะกลุ่มงานที่ต้องการได้ในคลิกเดียว ออกแบบ Mobile-friendly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6838"/>
                </a:solidFill>
                <a:latin typeface="Prompt"/>
              </a:defRPr>
            </a:pPr>
            <a:r>
              <a:t>4. การ์ดแม่แบบ Prompt (Prompt Card)</a:t>
            </a:r>
          </a:p>
          <a:p>
            <a:pPr>
              <a:defRPr sz="1300">
                <a:solidFill>
                  <a:srgbClr val="1E293B"/>
                </a:solidFill>
                <a:latin typeface="Sarabun"/>
              </a:defRPr>
            </a:pPr>
            <a:r>
              <a:t>บรรจุหัวข้อภารกิจ, คำอธิบาย, กล่องปรับตัวแปรข้อมูล, แท็บ Preview คำตอบ และปุ่มคัดลอก 1-Tap Copy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ขั้นตอนปฏิบัติการทีละสเต็ป •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Step 1: การค้นหาและเลือกกลุ่มงาน (01 ถึง 11)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006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838"/>
                </a:solidFill>
                <a:latin typeface="Prompt"/>
              </a:defRPr>
            </a:pPr>
            <a:r>
              <a:t>วิธีที่ 1: กดชิปกลุ่มงาน (Department Pills)</a:t>
            </a:r>
          </a:p>
          <a:p>
            <a:pPr>
              <a:defRPr sz="1400">
                <a:solidFill>
                  <a:srgbClr val="1E293B"/>
                </a:solidFill>
                <a:latin typeface="Sarabun"/>
              </a:defRPr>
            </a:pPr>
            <a:r>
              <a:t>• แถบแนวนอนด้านบนแสดงรหัส '01' ถึง '11'</a:t>
            </a:r>
            <a:br/>
            <a:r>
              <a:t>• เลื่อนซ้าย-ขวาได้สะดวกบนจอมือถือด้วยนิ้วโป้งเดียว</a:t>
            </a:r>
            <a:br/>
            <a:r>
              <a:t>• ตัวอย่าง:</a:t>
            </a:r>
            <a:br/>
            <a:r>
              <a:t>   - แตะ '06' -&gt; กรองเฉพาะงานโอนเงินระหว่างธนาคาร</a:t>
            </a:r>
            <a:br/>
            <a:r>
              <a:t>   - แตะ '09' -&gt; กรองเฉพาะงานกระทบยอดตู้ ATM/CDM</a:t>
            </a:r>
            <a:br/>
            <a:r>
              <a:t>• กด 'ทั้งหมด' เพื่อดูแม่แบบของทั้งสำนักฯ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  <a:latin typeface="Prompt"/>
              </a:defRPr>
            </a:pPr>
            <a:r>
              <a:t>วิธีที่ 2: ช่องค้นหาอัจฉริยะ (Smart Search)</a:t>
            </a:r>
          </a:p>
          <a:p>
            <a:pPr>
              <a:defRPr sz="1400">
                <a:solidFill>
                  <a:srgbClr val="1E293B"/>
                </a:solidFill>
                <a:latin typeface="Sarabun"/>
              </a:defRPr>
            </a:pPr>
            <a:r>
              <a:t>• ค้นหาด้วยรหัสกลุ่มงาน เช่น '01', '06', 'กลุ่ม 7'</a:t>
            </a:r>
            <a:br/>
            <a:r>
              <a:t>• ค้นหาด้วยชื่อกลุ่มงาน หรือภารกิจย่อย</a:t>
            </a:r>
            <a:br/>
            <a:r>
              <a:t>• ค้นหาด้วยคำสำคัญในงานประจำวัน เช่น:</a:t>
            </a:r>
            <a:br/>
            <a:r>
              <a:t>   - 'SPIN' (งานโอนเงินและปรับปรุง Payment)</a:t>
            </a:r>
            <a:br/>
            <a:r>
              <a:t>   - 'เช็คคืน' หรือ 'ICAS' (งานเรียกเก็บเช็ค)</a:t>
            </a:r>
            <a:br/>
            <a:r>
              <a:t>   - 'VOC' (งานแก้ไขข้อร้องเรียนลูกค้า)</a:t>
            </a:r>
            <a:br/>
            <a:r>
              <a:t>   - 'ภาษี' (งานภาษีหัก ณ ที่จ่าย ภ.ง.ด.)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ขั้นตอนปฏิบัติการทีละสเต็ป •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Step 2: การกรองตามหมวดหมู่ประเภทงาน (5 Categories)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6838"/>
                </a:solidFill>
                <a:latin typeface="Prompt"/>
              </a:defRPr>
            </a:pPr>
            <a:r>
              <a:t>📊 1. วิเคราะห์ &amp; สรุปข้อมูล</a:t>
            </a:r>
          </a:p>
          <a:p>
            <a:pPr>
              <a:defRPr sz="1200">
                <a:solidFill>
                  <a:srgbClr val="1E293B"/>
                </a:solidFill>
                <a:latin typeface="Sarabun"/>
              </a:defRPr>
            </a:pPr>
            <a:r>
              <a:t>วิเคราะห์ผลดำเนินงานตามแผนยุทธศาสตร์, ตัวชี้วัด KPI, สรุปสถิติธุรกรรม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6838"/>
                </a:solidFill>
                <a:latin typeface="Prompt"/>
              </a:defRPr>
            </a:pPr>
            <a:r>
              <a:t>📝 2. ร่างเอกสาร &amp; สื่อสาร/ราชการ</a:t>
            </a:r>
          </a:p>
          <a:p>
            <a:pPr>
              <a:defRPr sz="1200">
                <a:solidFill>
                  <a:srgbClr val="1E293B"/>
                </a:solidFill>
                <a:latin typeface="Sarabun"/>
              </a:defRPr>
            </a:pPr>
            <a:r>
              <a:t>ร่างบันทึกข้อความเวียนสาขา, หนังสือชี้แจงหน่วยงานภายนอก, หนังสือประสาน ITMX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6838"/>
                </a:solidFill>
                <a:latin typeface="Prompt"/>
              </a:defRPr>
            </a:pPr>
            <a:r>
              <a:t>⚖️ 3. กระทบยอด &amp; ตรวจสอบความถูกต้อง</a:t>
            </a:r>
          </a:p>
          <a:p>
            <a:pPr>
              <a:defRPr sz="1200">
                <a:solidFill>
                  <a:srgbClr val="1E293B"/>
                </a:solidFill>
                <a:latin typeface="Sarabun"/>
              </a:defRPr>
            </a:pPr>
            <a:r>
              <a:t>ตรวจพิสูจน์เงินสด ATM/CDM, ตรวจสอบเช็คขัดข้อง ICAS, กระทบยอด 3 ทาง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6838"/>
                </a:solidFill>
                <a:latin typeface="Prompt"/>
              </a:defRPr>
            </a:pPr>
            <a:r>
              <a:t>💬 4. ตอบข้อร้องเรียน VOC &amp; บริการลูกค้า</a:t>
            </a:r>
          </a:p>
          <a:p>
            <a:pPr>
              <a:defRPr sz="1200">
                <a:solidFill>
                  <a:srgbClr val="1E293B"/>
                </a:solidFill>
                <a:latin typeface="Sarabun"/>
              </a:defRPr>
            </a:pPr>
            <a:r>
              <a:t>ร่างข้อความชี้แจงลูกค้ากรณีเงินไม่เข้า, สคริปต์ Call Center ตาม SLA ธปท.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6838"/>
                </a:solidFill>
                <a:latin typeface="Prompt"/>
              </a:defRPr>
            </a:pPr>
            <a:r>
              <a:t>📋 5. วางแผน &amp; เกณฑ์มาตรฐานงาน (SOP)</a:t>
            </a:r>
          </a:p>
          <a:p>
            <a:pPr>
              <a:defRPr sz="1200">
                <a:solidFill>
                  <a:srgbClr val="1E293B"/>
                </a:solidFill>
                <a:latin typeface="Sarabun"/>
              </a:defRPr>
            </a:pPr>
            <a:r>
              <a:t>จัดทำคู่มือขั้นตอนปฏิบัติงานมาตรฐาน, ออกแบบ Daily Checklist ประจำสาขา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ขั้นตอนปฏิบัติการทีละสเต็ป •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Step 3: โครงสร้างแม่แบบมาตรฐาน RTF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006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2B"/>
                </a:solidFill>
                <a:latin typeface="Prompt"/>
              </a:defRPr>
            </a:pPr>
            <a:r>
              <a:t>R - Role (กำหนดบทบาทความเชี่ยวชาญ)</a:t>
            </a:r>
          </a:p>
          <a:p>
            <a:pPr>
              <a:defRPr sz="1300">
                <a:solidFill>
                  <a:srgbClr val="1E293B"/>
                </a:solidFill>
                <a:latin typeface="Sarabun"/>
              </a:defRPr>
            </a:pPr>
            <a:r>
              <a:t>บอก AI ว่ากำลังสวมบทบาทเป็นใคร:</a:t>
            </a:r>
            <a:br/>
            <a:r>
              <a:t>เช่น 'คุณคือผู้เชี่ยวชาญด้านงานโอนเงินระหว่างธนาคาร สำนักธุรกรรมการเงิน ธ.ก.ส.'</a:t>
            </a:r>
            <a:br/>
            <a:r>
              <a:t>-&gt; ช่วยให้ AI ใช้คำศัพท์ทางการเงินและสำนวนที่ถูกต้องตรงบริบทธนาคาร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2B"/>
                </a:solidFill>
                <a:latin typeface="Prompt"/>
              </a:defRPr>
            </a:pPr>
            <a:r>
              <a:t>T - Task (ระบุภารกิจและเป้าหมายที่ชัดเจน)</a:t>
            </a:r>
          </a:p>
          <a:p>
            <a:pPr>
              <a:defRPr sz="1300">
                <a:solidFill>
                  <a:srgbClr val="1E293B"/>
                </a:solidFill>
                <a:latin typeface="Sarabun"/>
              </a:defRPr>
            </a:pPr>
            <a:r>
              <a:t>บอก AI ให้ทำอะไรอย่างละเอียด:</a:t>
            </a:r>
            <a:br/>
            <a:r>
              <a:t>เช่น 'ร่างบันทึกข้อความชี้แจงกรณีรายการโอนเงินขัดข้อง และเสนอแนวทางแก้ไข'</a:t>
            </a:r>
            <a:br/>
            <a:r>
              <a:t>-&gt; ป้องกันไม่ให้ AI ตอบนอกประเด็นหรือไม่ตรงความต้องการ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064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2B"/>
                </a:solidFill>
                <a:latin typeface="Prompt"/>
              </a:defRPr>
            </a:pPr>
            <a:r>
              <a:t>F - Format (กำหนดรูปแบบเอกสารและผลลัพธ์)</a:t>
            </a:r>
          </a:p>
          <a:p>
            <a:pPr>
              <a:defRPr sz="1300">
                <a:solidFill>
                  <a:srgbClr val="1E293B"/>
                </a:solidFill>
                <a:latin typeface="Sarabun"/>
              </a:defRPr>
            </a:pPr>
            <a:r>
              <a:t>บอก AI ว่าต้องการโครงสร้างคำตอบแบบไหน:</a:t>
            </a:r>
            <a:br/>
            <a:r>
              <a:t>เช่น 'จัดทำในรูปแบบบันทึกข้อความราชการ มีส่วนต้น สาระสำคัญ ข้อพิจารณา และตารางสรุป'</a:t>
            </a:r>
            <a:br/>
            <a:r>
              <a:t>-&gt; ได้ผลงานพร้อมนำไปวางใน Word หรือระบบงานได้ทันที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ขั้นตอนปฏิบัติการทีละสเต็ป •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Step 4: การปรับแต่งตัวแปรข้อมูล (Dynamic Variables)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838"/>
                </a:solidFill>
                <a:latin typeface="Prompt"/>
              </a:defRPr>
            </a:pPr>
            <a:r>
              <a:t>⚙️ ระบบปรับแต่งตัวแปรแบบเรียลไทม์ (Live Replacement)</a:t>
            </a:r>
          </a:p>
          <a:p>
            <a:pPr>
              <a:defRPr sz="1500">
                <a:solidFill>
                  <a:srgbClr val="1E293B"/>
                </a:solidFill>
                <a:latin typeface="Sarabun"/>
              </a:defRPr>
            </a:pPr>
            <a:r>
              <a:t>1. คลิกปุ่ม 'ปรับแต่งตัวแปรข้อมูล' ที่แถบด้านบนของการ์ดแม่แบบ</a:t>
            </a:r>
            <a:br/>
            <a:r>
              <a:t>2. กรอกข้อมูลจริงลงในช่องตัวแปร เช่น:</a:t>
            </a:r>
            <a:br/>
            <a:r>
              <a:t>   • วันที่/เวลาทำรายการ (เช่น 10 ต.ค. 2567 เวลา 14:35 น.)</a:t>
            </a:r>
            <a:br/>
            <a:r>
              <a:t>   • ช่องทางบริการ (เช่น A-Mobile Plus, ตู้ ATM สาขาบางเขน)</a:t>
            </a:r>
            <a:br/>
            <a:r>
              <a:t>   • รหัสอ้างอิงรายการ หรือข้อมูลปัญหาที่พบ</a:t>
            </a:r>
            <a:br/>
            <a:r>
              <a:t>3. ข้อความในกล่อง Prompt และตัวอย่างคำตอบ AI จะอัปเดตแทนที่คำทันที 100%</a:t>
            </a:r>
            <a:br/>
            <a:r>
              <a:t>4. มีแถบไฮไลต์สีเหลืองแสดงให้เห็นชัดเจนว่าตัวแปรจุดไหนถูกแก้ไขไปแล้ว</a:t>
            </a:r>
            <a:br/>
            <a:r>
              <a:t>5. หากต้องการกลับสู่ค่ามาตรฐาน ให้กดปุ่ม 'รีเซ็ตค่าเดิม' (ไอคอนลูกศรหมุน)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ขั้นตอนปฏิบัติการทีละสเต็ป •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Step 5: ตรวจดูตัวอย่างผลลัพธ์คำตอบ AI ทันที (Instant Preview)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64E2B"/>
                </a:solidFill>
                <a:latin typeface="Prompt"/>
              </a:defRPr>
            </a:pPr>
            <a:r>
              <a:t>👁️ แท็บสลับดู 'ตัวอย่างคำตอบ AI (Expected Output Preview)'</a:t>
            </a:r>
          </a:p>
          <a:p>
            <a:pPr>
              <a:defRPr sz="1500">
                <a:solidFill>
                  <a:srgbClr val="1E293B"/>
                </a:solidFill>
                <a:latin typeface="Sarabun"/>
              </a:defRPr>
            </a:pPr>
            <a:r>
              <a:t>• ประโยชน์ของฟังก์ชัน Instant Preview:</a:t>
            </a:r>
            <a:br/>
            <a:r>
              <a:t>   1. เห็นโครงสร้างผลลัพธ์ล่วงหน้า ก่อนตัดสินใจนำ Prompt ไปยิงบน Gemini</a:t>
            </a:r>
            <a:br/>
            <a:r>
              <a:t>   2. มั่นใจในคุณภาพและรูปแบบเอกสาร ว่าตรงตามมาตรฐานของ ธ.ก.ส.</a:t>
            </a:r>
            <a:br/>
            <a:r>
              <a:t>   3. ทำงานแบบ Offline 100% ไม่ต้องต่ออินเทอร์เน็ตภายนอก และไม่เสียค่าโควตา API ใดๆ</a:t>
            </a:r>
            <a:br/>
            <a:r>
              <a:t>• ตัวอย่างผลลัพธ์ที่จัดรูปเล่มสวยงาม:</a:t>
            </a:r>
            <a:br/>
            <a:r>
              <a:t>   - บันทึกข้อความราชการที่มีเลขที่อ้างอิงและหัวเรื่องถูกต้อง</a:t>
            </a:r>
            <a:br/>
            <a:r>
              <a:t>   - ตารางสรุปผลต่างการกระทบยอด หรือตารางเปรียบเทียบ KPI</a:t>
            </a:r>
            <a:br/>
            <a:r>
              <a:t>   - สคริปต์ข้อความสื่อสารตอบลูกค้าอย่างสุภาพและถูกต้องตามเกณฑ์ ธปท.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ขั้นตอนปฏิบัติการทีละสเต็ป • 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Step 6: การคัดลอกในสัมผัสเดียว (1-Tap Copy &amp; Feedback)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006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838"/>
                </a:solidFill>
                <a:latin typeface="Prompt"/>
              </a:defRPr>
            </a:pPr>
            <a:r>
              <a:t>📋 ปุ่มคัดลอกขนาดใหญ่ 48px ออกแบบตามมาตรฐาน Mobile Touch</a:t>
            </a:r>
          </a:p>
          <a:p>
            <a:pPr>
              <a:defRPr sz="1500">
                <a:solidFill>
                  <a:srgbClr val="1E293B"/>
                </a:solidFill>
                <a:latin typeface="Sarabun"/>
              </a:defRPr>
            </a:pPr>
            <a:r>
              <a:t>1. กดปุ่มสีเขียวขนาดใหญ่ 'คัดลอก Prompt' (หรือ 'คัดลอกตัวอย่างคำตอบ')</a:t>
            </a:r>
            <a:br/>
            <a:r>
              <a:t>2. ระบบจะส่งสัญญาณยืนยันทันที:</a:t>
            </a:r>
            <a:br/>
            <a:r>
              <a:t>   • ปุ่มเปลี่ยนสีเป็นเขียวเข้ม พร้อมข้อความ '✓ คัดลอกเรียบร้อยแล้ว!'</a:t>
            </a:r>
            <a:br/>
            <a:r>
              <a:t>   • มีป้ายแจ้งเตือน (Toast Notification) ลอยขึ้นมากึ่งกลางด้านล่างจอ</a:t>
            </a:r>
            <a:br/>
            <a:r>
              <a:t>   • สมาร์ตโฟนจะสั่นเตือนสั้นๆ (Haptic Feedback) ยืนยันว่าอยู่ในคลิปบอร์ดแล้ว</a:t>
            </a:r>
            <a:br/>
            <a:r>
              <a:t>3. มีกลไก Fallback 2 ระดับ รับประกันคัดลอกติด 100% แม้บน iOS Safari หรือเปิดไฟล์แบบ Local</a:t>
            </a:r>
            <a:br/>
            <a:r>
              <a:t>4. เปิด Google Gemini (gemini.google.com) แล้วแตะวาง (Paste / Ctrl+V) ส่งคำสั่งได้ทันที!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ตัวอย่างการใช้งานจริง • USE CASE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กรณีศึกษาจริง 1: กลุ่มงานปฏิบัติการโอนเงินระหว่างธนาคาร (กลุ่ม 06)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2B"/>
                </a:solidFill>
                <a:latin typeface="Prompt"/>
              </a:defRPr>
            </a:pPr>
            <a:r>
              <a:t>สถานการณ์: รายการโอนเงินข้ามธนาคารขัดข้อง เงินตัดบัญชีแต่ปลายทางไม่ได้รับ</a:t>
            </a:r>
          </a:p>
          <a:p>
            <a:pPr>
              <a:defRPr sz="1400">
                <a:solidFill>
                  <a:srgbClr val="1E293B"/>
                </a:solidFill>
                <a:latin typeface="Sarabun"/>
              </a:defRPr>
            </a:pPr>
            <a:r>
              <a:t>• ขั้นตอนการปฏิบัติงาน:</a:t>
            </a:r>
            <a:br/>
            <a:r>
              <a:t>   1. แตะชิป '06' -&gt; เลือกแม่แบบ 'ประสานงานแก้ไขปัญหาโอนเงินระหว่างธนาคารขัดข้อง'</a:t>
            </a:r>
            <a:br/>
            <a:r>
              <a:t>   2. ปรับตัวแปร: ระบุวันที่/เวลา, ธนาคารปลายทาง, และเลขที่รายการจำลอง</a:t>
            </a:r>
            <a:br/>
            <a:r>
              <a:t>   3. กด 'คัดลอก Prompt' แล้วนำไปสั่งการใน Gemini</a:t>
            </a:r>
            <a:br/>
            <a:r>
              <a:t>• ผลลัพธ์ที่ได้จาก AI:</a:t>
            </a:r>
            <a:br/>
            <a:r>
              <a:t>   ✔ หนังสือแจ้งประสานงานไปยัง ITMX และธนาคารคู่โอน พร้อมรายละเอียดทางเทคนิค</a:t>
            </a:r>
            <a:br/>
            <a:r>
              <a:t>   ✔ ข้อความสคริปต์สำหรับตอบลูกค้าทาง Call Center สุภาพ ถูกต้องตาม SLA ของ ธปท. (คืนเงินภายใน 19:00 น. ของวันทำการถัดไป)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ตัวอย่างการใช้งานจริง • USE CASE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กรณีศึกษาจริง 2: กลุ่มงานตรวจพิสูจน์และกระทบยอด ATM/CDM (กลุ่ม 09)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4E2B"/>
                </a:solidFill>
                <a:latin typeface="Prompt"/>
              </a:defRPr>
            </a:pPr>
            <a:r>
              <a:t>สถานการณ์: กระทบยอดเงินสดตู้ ATM ประจำวัน พบยอดเงินเกินในกล่อง CDM จากลูกค้าฝากเงินไม่สำเร็จ</a:t>
            </a:r>
          </a:p>
          <a:p>
            <a:pPr>
              <a:defRPr sz="1400">
                <a:solidFill>
                  <a:srgbClr val="1E293B"/>
                </a:solidFill>
                <a:latin typeface="Sarabun"/>
              </a:defRPr>
            </a:pPr>
            <a:r>
              <a:t>• ขั้นตอนการปฏิบัติงาน:</a:t>
            </a:r>
            <a:br/>
            <a:r>
              <a:t>   1. แตะชิป '09' หรือค้นหาคำว่า 'ATM' หรือ 'VOC'</a:t>
            </a:r>
            <a:br/>
            <a:r>
              <a:t>   2. เลือกแม่แบบ 'ตรวจพิสูจน์กระทบยอดเงินสดในตู้ ATM/CDM และร่างแนวทางปรับปรุงบัญชีคืนเงินลูกค้า'</a:t>
            </a:r>
            <a:br/>
            <a:r>
              <a:t>   3. ปรับตัวแปร: รหัสตู้ ATM, วันที่กระทบยอด, จำนวนเงินส่วนต่าง และข้อร้องเรียน VOC</a:t>
            </a:r>
            <a:br/>
            <a:r>
              <a:t>• ผลลัพธ์ที่ได้จาก AI:</a:t>
            </a:r>
            <a:br/>
            <a:r>
              <a:t>   ✔ ตารางวิเคราะห์เปรียบเทียบยอด Journal Log vs ยอดเงินสดนับจริง</a:t>
            </a:r>
            <a:br/>
            <a:r>
              <a:t>   ✔ บันทึกข้อความเสนอผู้มีอำนาจอนุมัติปรับปรุงบัญชีคืนเงินลูกค้า</a:t>
            </a:r>
            <a:br/>
            <a:r>
              <a:t>   ✔ สรุปแนวทางป้องกันเงินสดค้างในตู้สำหรับผู้จัดการสาขา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ความปลอดภัยข้อมูล • SECURITY &amp;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นโยบายความมั่นคงปลอดภัย และกฎเหล็ก Data Masking (PDPA)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Prompt"/>
              </a:defRPr>
            </a:pPr>
            <a:r>
              <a:t>ชื่อ-นามสกุลจริงของลูกค้า:</a:t>
            </a:r>
          </a:p>
          <a:p>
            <a:pPr>
              <a:defRPr sz="1300">
                <a:solidFill>
                  <a:srgbClr val="064E2B"/>
                </a:solidFill>
                <a:latin typeface="Sarabun"/>
              </a:defRPr>
            </a:pPr>
            <a:r>
              <a:t>❌ นายสมชาย เกษตรก้าวหน้า   ---&gt;   ✔ ลูกค้าบุคคลธรรมดา รายที่ 1 / นาย 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Prompt"/>
              </a:defRPr>
            </a:pPr>
            <a:r>
              <a:t>เลขประจำตัวประชาชน 13 หลัก:</a:t>
            </a:r>
          </a:p>
          <a:p>
            <a:pPr>
              <a:defRPr sz="1300">
                <a:solidFill>
                  <a:srgbClr val="064E2B"/>
                </a:solidFill>
                <a:latin typeface="Sarabun"/>
              </a:defRPr>
            </a:pPr>
            <a:r>
              <a:t>❌ 1-1004-99887-12-3   ---&gt;   ✔ 1-XXXX-XXXXX-12-3 หรือ [เลขบัตร ปชช.]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Prompt"/>
              </a:defRPr>
            </a:pPr>
            <a:r>
              <a:t>เลขที่บัญชีเงินฝาก 10-12 หลัก:</a:t>
            </a:r>
          </a:p>
          <a:p>
            <a:pPr>
              <a:defRPr sz="1300">
                <a:solidFill>
                  <a:srgbClr val="064E2B"/>
                </a:solidFill>
                <a:latin typeface="Sarabun"/>
              </a:defRPr>
            </a:pPr>
            <a:r>
              <a:t>❌ 020-1-2345678-9   ---&gt;   ✔ 020-X-XXXXX78-9 หรือ [บัญชีลูกค้า]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293B"/>
                </a:solidFill>
                <a:latin typeface="Prompt"/>
              </a:defRPr>
            </a:pPr>
            <a:r>
              <a:t>รหัสผ่าน / PIN / OTP / CVC:</a:t>
            </a:r>
          </a:p>
          <a:p>
            <a:pPr>
              <a:defRPr sz="1300">
                <a:solidFill>
                  <a:srgbClr val="064E2B"/>
                </a:solidFill>
                <a:latin typeface="Sarabun"/>
              </a:defRPr>
            </a:pPr>
            <a:r>
              <a:t>❌ รหัสผ่านและ PIN ทุกประเภท   ---&gt;   ✔ ห้ามใส่ลงใน Prompt โดยเด็ดขาด 100%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BAAC PROMPT HUB • สำนักธุรกรรมการเงิน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สรุปครอบคลุมภารกิจ 11 กลุ่มงาน สำนักธุรกรรมการเงิน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006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Sarabun"/>
              </a:defRPr>
            </a:pPr>
            <a:r>
              <a:t>01: กลุ่มงานนโยบายและแผน</a:t>
            </a:r>
            <a:br/>
            <a:r>
              <a:t>02: กลุ่มงานพัฒนาระบบสนับสนุนด้านการเงินฯ</a:t>
            </a:r>
            <a:br/>
            <a:r>
              <a:t>03: กลุ่มงานปฏิบัติและกำกับงานการธนาคาร</a:t>
            </a:r>
            <a:br/>
            <a:r>
              <a:t>04: กลุ่มงานบริหารจัดการเงินสดสาขา</a:t>
            </a:r>
            <a:br/>
            <a:r>
              <a:t>05: กลุ่มงานปฏิบัติการโอนเงินระหว่างสาขา (SPIN)</a:t>
            </a:r>
            <a:br/>
            <a:r>
              <a:t>06: กลุ่มงานปฏิบัติการโอนเงินระหว่างธนาคาร (ITMX)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293B"/>
                </a:solidFill>
                <a:latin typeface="Sarabun"/>
              </a:defRPr>
            </a:pPr>
            <a:r>
              <a:t>07: กลุ่มงานปฏิบัติการเรียกเก็บเช็ค (ICAS)</a:t>
            </a:r>
            <a:br/>
            <a:r>
              <a:t>08: กลุ่มงานตรวจพิสูจน์และชำระดุล</a:t>
            </a:r>
            <a:br/>
            <a:r>
              <a:t>09: กลุ่มงานตรวจพิสูจน์และกระทบยอดเงินสด ATM/CDM</a:t>
            </a:r>
            <a:br/>
            <a:r>
              <a:t>10: กลุ่มงานบริหาร Banking Agent</a:t>
            </a:r>
            <a:br/>
            <a:r>
              <a:t>11: กลุ่มงานบริหารจัดการเงินสด ATM นอกสำนักงาน</a:t>
            </a:r>
            <a:br/>
            <a:r>
              <a:t>✨ แม่แบบทุกกลุ่มงานพร้อมใช้งานแล้วบนระบบ!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838"/>
                </a:solidFill>
                <a:latin typeface="Prompt"/>
              </a:defRPr>
            </a:pPr>
            <a:r>
              <a:t>สรุปการปฏิบัติการ • SUMMARY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4E2B"/>
                </a:solidFill>
                <a:latin typeface="Prompt"/>
              </a:defRPr>
            </a:pPr>
            <a:r>
              <a:t>สรุปขั้นตอน 4 จังหวะ &amp; คำถาม-ข้อสงสัย (Q&amp;A)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064E2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  <a:latin typeface="Prompt"/>
              </a:defRPr>
            </a:pPr>
            <a:r>
              <a:t>1. เลือก (Select)</a:t>
            </a:r>
          </a:p>
          <a:p>
            <a:pPr>
              <a:defRPr sz="1200">
                <a:solidFill>
                  <a:srgbClr val="FFFFFF"/>
                </a:solidFill>
                <a:latin typeface="Sarabun"/>
              </a:defRPr>
            </a:pPr>
            <a:r>
              <a:t>เลือกชิปกลุ่มงาน 01-11 หรือค้นหาคำสำคัญ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2011680"/>
          </a:xfrm>
          <a:prstGeom prst="roundRect">
            <a:avLst/>
          </a:prstGeom>
          <a:solidFill>
            <a:srgbClr val="064E2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  <a:latin typeface="Prompt"/>
              </a:defRPr>
            </a:pPr>
            <a:r>
              <a:t>2. ปรับ (Adjust)</a:t>
            </a:r>
          </a:p>
          <a:p>
            <a:pPr>
              <a:defRPr sz="1200">
                <a:solidFill>
                  <a:srgbClr val="FFFFFF"/>
                </a:solidFill>
                <a:latin typeface="Sarabun"/>
              </a:defRPr>
            </a:pPr>
            <a:r>
              <a:t>คลิกใส่ข้อมูลตัวแปรเฉพาะของงาน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60320" cy="2011680"/>
          </a:xfrm>
          <a:prstGeom prst="roundRect">
            <a:avLst/>
          </a:prstGeom>
          <a:solidFill>
            <a:srgbClr val="064E2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  <a:latin typeface="Prompt"/>
              </a:defRPr>
            </a:pPr>
            <a:r>
              <a:t>3. ส่อง (Preview)</a:t>
            </a:r>
          </a:p>
          <a:p>
            <a:pPr>
              <a:defRPr sz="1200">
                <a:solidFill>
                  <a:srgbClr val="FFFFFF"/>
                </a:solidFill>
                <a:latin typeface="Sarabun"/>
              </a:defRPr>
            </a:pPr>
            <a:r>
              <a:t>กดดูตัวอย่างผลลัพธ์คำตอบ AI เพื่อตรวจสอบ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60320" cy="2011680"/>
          </a:xfrm>
          <a:prstGeom prst="roundRect">
            <a:avLst/>
          </a:prstGeom>
          <a:solidFill>
            <a:srgbClr val="064E2B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97706"/>
                </a:solidFill>
                <a:latin typeface="Prompt"/>
              </a:defRPr>
            </a:pPr>
            <a:r>
              <a:t>4. คัดลอก (Copy)</a:t>
            </a:r>
          </a:p>
          <a:p>
            <a:pPr>
              <a:defRPr sz="1200">
                <a:solidFill>
                  <a:srgbClr val="FFFFFF"/>
                </a:solidFill>
                <a:latin typeface="Sarabun"/>
              </a:defRPr>
            </a:pPr>
            <a:r>
              <a:t>กด 1-Tap Copy นำไป Paste ลง Google Gemini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2286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6838"/>
                </a:solidFill>
                <a:latin typeface="Prompt"/>
              </a:defRPr>
            </a:pPr>
            <a:r>
              <a:t>💬 ช่วงถาม-ตอบ และข้อเสนอแนะ (Questions &amp; Answers)</a:t>
            </a:r>
          </a:p>
          <a:p>
            <a:pPr>
              <a:defRPr sz="1400">
                <a:solidFill>
                  <a:srgbClr val="1E293B"/>
                </a:solidFill>
                <a:latin typeface="Sarabun"/>
              </a:defRPr>
            </a:pPr>
            <a:r>
              <a:t>• เว็บไซต์ระบบ: https://cheeptham333.github.io/baac-prompt-hub/</a:t>
            </a:r>
            <a:br/>
            <a:r>
              <a:t>• หากมีข้อเสนอแนะเพิ่มเติมหรือต้องการเพิ่มแม่แบบใหม่ ติดต่อ: ฝ่ายพัฒนาระบบและนวัตกรรม สำนักธุรกรรมการเงิน</a:t>
            </a:r>
            <a:br/>
            <a:r>
              <a:t>• ขอขอบคุณพนักงาน ธ.ก.ส. ทุกท่านที่ร่วมเรียนรู้และพัฒนาทักษะ AI ร่วมกัน!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